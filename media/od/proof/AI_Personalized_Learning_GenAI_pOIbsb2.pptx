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Personalized Learning Material Generation Using 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Name | Affiliation | IEEE Paper Presentation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Traditional education = one-size-fits-all</a:t>
            </a:r>
          </a:p>
          <a:p>
            <a:pPr>
              <a:defRPr sz="2000"/>
            </a:pPr>
            <a:r>
              <a:t>Learners differ in pace, style, and preferences</a:t>
            </a:r>
          </a:p>
          <a:p>
            <a:pPr>
              <a:defRPr sz="2000"/>
            </a:pPr>
            <a:r>
              <a:t>Generative AI enables customized, adaptive learning materials</a:t>
            </a:r>
          </a:p>
          <a:p>
            <a:pPr>
              <a:defRPr sz="2000"/>
            </a:pPr>
            <a:r>
              <a:t>Goal: Enhance engagement, understanding, and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Learning Gaps → uniform material fails slow/fast learners</a:t>
            </a:r>
          </a:p>
          <a:p>
            <a:pPr>
              <a:defRPr sz="2000"/>
            </a:pPr>
            <a:r>
              <a:t>Low Engagement → static textbooks don’t motivate students</a:t>
            </a:r>
          </a:p>
          <a:p>
            <a:pPr>
              <a:defRPr sz="2000"/>
            </a:pPr>
            <a:r>
              <a:t>EdTech Opportunity → GenAI provides adaptability, diversity, inclusiveness</a:t>
            </a:r>
          </a:p>
          <a:p>
            <a:pPr>
              <a:defRPr sz="2000"/>
            </a:pPr>
            <a:r>
              <a:t>Examples: Simplified notes for weak learners, advanced challenges for strong learners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Explore GenAI techniques for educational content generation</a:t>
            </a:r>
          </a:p>
          <a:p>
            <a:pPr>
              <a:defRPr sz="2000"/>
            </a:pPr>
            <a:r>
              <a:t>Design personalized learning pathways</a:t>
            </a:r>
          </a:p>
          <a:p>
            <a:pPr>
              <a:defRPr sz="2000"/>
            </a:pPr>
            <a:r>
              <a:t>Evaluate benefits and challenges in real-world learning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/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Traditional AI in Education → Recommender systems, adaptive tests</a:t>
            </a:r>
          </a:p>
          <a:p>
            <a:pPr>
              <a:defRPr sz="2000"/>
            </a:pPr>
            <a:r>
              <a:t>Generative AI evolution → Large Language Models (LLMs), multimodal AI</a:t>
            </a:r>
          </a:p>
          <a:p>
            <a:pPr>
              <a:defRPr sz="2000"/>
            </a:pPr>
            <a:r>
              <a:t>Research Gap → Focus mostly on assessment, less on personalized content creation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Content Generation: Explanations, summaries, quizzes (LLMs), visuals, interactive tools</a:t>
            </a:r>
          </a:p>
          <a:p>
            <a:pPr>
              <a:defRPr sz="2000"/>
            </a:pPr>
            <a:r>
              <a:t>Personalization: Learner profiles, adaptive pathways, multimodal delivery</a:t>
            </a:r>
          </a:p>
          <a:p>
            <a:pPr>
              <a:defRPr sz="2000"/>
            </a:pPr>
            <a:r>
              <a:t>Delivery Methods: Text, audio, video, AR/VR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Trustworthy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Bias in content → Ensure fairness</a:t>
            </a:r>
          </a:p>
          <a:p>
            <a:pPr>
              <a:defRPr sz="2000"/>
            </a:pPr>
            <a:r>
              <a:t>Accuracy → Avoid misinformation</a:t>
            </a:r>
          </a:p>
          <a:p>
            <a:pPr>
              <a:defRPr sz="2000"/>
            </a:pPr>
            <a:r>
              <a:t>Privacy → Protect student data</a:t>
            </a:r>
          </a:p>
          <a:p>
            <a:pPr>
              <a:defRPr sz="2000"/>
            </a:pPr>
            <a:r>
              <a:t>Transparency → AI’s role must be visible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K-12 Education: Adaptive homework, quizzes, visual explanations</a:t>
            </a:r>
          </a:p>
          <a:p>
            <a:pPr>
              <a:defRPr sz="2000"/>
            </a:pPr>
            <a:r>
              <a:t>Higher Education: Customized research guides, study notes</a:t>
            </a:r>
          </a:p>
          <a:p>
            <a:pPr>
              <a:defRPr sz="2000"/>
            </a:pPr>
            <a:r>
              <a:t>Skill Development: Personalized coding challenges, interview prep</a:t>
            </a:r>
          </a:p>
          <a:p>
            <a:pPr>
              <a:defRPr sz="2000"/>
            </a:pPr>
            <a:r>
              <a:t>Corporate Training: Dynamic learning modules for employees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Personalized GenAI improves engagement, retention, outcomes</a:t>
            </a:r>
          </a:p>
          <a:p>
            <a:pPr>
              <a:defRPr sz="2000"/>
            </a:pPr>
            <a:r>
              <a:t>Supports inclusive education</a:t>
            </a:r>
          </a:p>
          <a:p>
            <a:pPr>
              <a:defRPr sz="2000"/>
            </a:pPr>
            <a:r>
              <a:t>Challenges: Cost, scalability, trust in AI-generated knowledge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GenAI = Game changer in education</a:t>
            </a:r>
          </a:p>
          <a:p>
            <a:pPr>
              <a:defRPr sz="2000"/>
            </a:pPr>
            <a:r>
              <a:t>Personalized learning → adaptive, inclusive, engaging</a:t>
            </a:r>
          </a:p>
          <a:p>
            <a:pPr>
              <a:defRPr sz="2000"/>
            </a:pPr>
            <a:r>
              <a:t>Future Scope: AI-teacher collaboration, hybrid grading/mentoring, global MOOCs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IEEE papers on AI in education</a:t>
            </a:r>
          </a:p>
          <a:p>
            <a:pPr>
              <a:defRPr sz="2000"/>
            </a:pPr>
            <a:r>
              <a:t>ACM publications on Generative AI</a:t>
            </a:r>
          </a:p>
          <a:p>
            <a:pPr>
              <a:defRPr sz="2000"/>
            </a:pPr>
            <a:r>
              <a:t>UNESCO AI &amp; Education guidelines</a:t>
            </a:r>
          </a:p>
          <a:p>
            <a:pPr>
              <a:defRPr sz="2000"/>
            </a:pPr>
            <a:r>
              <a:t>Stanford/MIT research on adaptive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Thank You!</a:t>
            </a:r>
          </a:p>
          <a:p>
            <a:pPr>
              <a:defRPr sz="2000"/>
            </a:pPr>
            <a:r>
              <a:t>Contact Information (optional)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